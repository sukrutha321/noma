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201525" cy="6858000"/>
  <p:notesSz cx="6858000" cy="122015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EBB4B240-3401-A292-41F3-CBAD27026A95}">
          <p14:sldIdLst>
            <p14:sldId id="256"/>
          </p14:sldIdLst>
        </p14:section>
        <p14:section name="Background" id="{49F53002-84B5-2FE8-1537-BC1D463F8B90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Methodology" id="{5710948D-57BF-6EAA-7D7E-0E9CD7544F35}">
          <p14:sldIdLst>
            <p14:sldId id="263"/>
            <p14:sldId id="264"/>
            <p14:sldId id="265"/>
          </p14:sldIdLst>
        </p14:section>
        <p14:section name="Implementation" id="{9683A8EE-61B7-17DD-28FF-9D95F9D74B1E}">
          <p14:sldIdLst>
            <p14:sldId id="266"/>
          </p14:sldIdLst>
        </p14:section>
        <p14:section name="Results" id="{74DDDCCF-79E1-B6DC-3808-97DB9A193B96}">
          <p14:sldIdLst>
            <p14:sldId id="267"/>
            <p14:sldId id="268"/>
            <p14:sldId id="269"/>
          </p14:sldIdLst>
        </p14:section>
        <p14:section name="Conclusion" id="{F4B6B5EA-03C7-339B-65D3-B31C1D8FE015}">
          <p14:sldIdLst>
            <p14:sldId id="270"/>
            <p14:sldId id="271"/>
            <p14:sldId id="272"/>
          </p14:sldIdLst>
        </p14:section>
        <p14:section name="References" id="{6713BF2C-698A-27BF-7843-FC6CA8FA7AF7}">
          <p14:sldIdLst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5" autoAdjust="0"/>
    <p:restoredTop sz="94610"/>
  </p:normalViewPr>
  <p:slideViewPr>
    <p:cSldViewPr snapToGrid="0" snapToObjects="1">
      <p:cViewPr>
        <p:scale>
          <a:sx n="77" d="100"/>
          <a:sy n="77" d="100"/>
        </p:scale>
        <p:origin x="76" y="-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9199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review of Stage-1. Project: Design and Performance Analysis of Multirate-NOMA. Guide: Dr. G. Karthik Reddy.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access-scheme comparison is a native table (not a picture). Note: NOMA has been studied in 3GPP but is not part of the 5G NR standard.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6 was changed from MIMO exploration to Monte Carlo validation (done). MIMO is listed under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MR-SIC and JMLSD give the same simulated BER. Monte Carlo used 3 to 6 million windows per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Plot: far-user BER vs SNR for [2,2] (solid) and [4,4] (dashed), T2 = 1, 2, 4, 8. Table: SNR for far-user BER = 1e-3 for all ten modulation pairs.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1: minimise near-user BER subject to far-user BER &lt;= 1e-2. Problem 2: minimise far-user BER subject to near-user BER &lt;= 1e-2. gamma1 = 16, 19, 28 dB; gamma2 = 8 dB. Monte Carlo with Gray-mapped QAM was used to check the perfect-SIC lower bound used for the near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Objectives 1-6 achieved. MIMO extension is future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review: all planned Stage-1 work is complete. Monte Carlo validation and the power-allocation study, listed as pending earlier, are now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Months marked with a tick are completed. Final submission is the only item still planned.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fra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175" y="33833"/>
            <a:ext cx="12191695" cy="6858000"/>
          </a:xfrm>
          <a:prstGeom prst="rect">
            <a:avLst/>
          </a:prstGeom>
        </p:spPr>
      </p:pic>
      <p:pic>
        <p:nvPicPr>
          <p:cNvPr id="3" name="Image 1" descr="Title bann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611" y="33833"/>
            <a:ext cx="7206386" cy="852221"/>
          </a:xfrm>
          <a:prstGeom prst="rect">
            <a:avLst/>
          </a:prstGeom>
        </p:spPr>
      </p:pic>
      <p:pic>
        <p:nvPicPr>
          <p:cNvPr id="4" name="Image 2" descr="MLRIT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4936" y="163678"/>
            <a:ext cx="2171700" cy="598932"/>
          </a:xfrm>
          <a:prstGeom prst="rect">
            <a:avLst/>
          </a:prstGeom>
        </p:spPr>
      </p:pic>
      <p:sp>
        <p:nvSpPr>
          <p:cNvPr id="5" name="Text 0"/>
          <p:cNvSpPr>
            <a:spLocks noGrp="1"/>
          </p:cNvSpPr>
          <p:nvPr>
            <p:ph type="title" idx="103" hasCustomPrompt="1"/>
          </p:nvPr>
        </p:nvSpPr>
        <p:spPr>
          <a:xfrm>
            <a:off x="2560320" y="182880"/>
            <a:ext cx="68122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4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marL="0" indent="0" algn="ctr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fra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175" y="33833"/>
            <a:ext cx="12191695" cy="6858000"/>
          </a:xfrm>
          <a:prstGeom prst="rect">
            <a:avLst/>
          </a:prstGeom>
        </p:spPr>
      </p:pic>
      <p:pic>
        <p:nvPicPr>
          <p:cNvPr id="3" name="Image 1" descr="Title bann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611" y="33833"/>
            <a:ext cx="7206386" cy="852221"/>
          </a:xfrm>
          <a:prstGeom prst="rect">
            <a:avLst/>
          </a:prstGeom>
        </p:spPr>
      </p:pic>
      <p:pic>
        <p:nvPicPr>
          <p:cNvPr id="4" name="Image 2" descr="MLRIT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4936" y="163678"/>
            <a:ext cx="2171700" cy="5989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06040" y="182880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1600" b="1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Times New Roman" panose="02020603050405020304" pitchFamily="18" charset="0"/>
              </a:rPr>
              <a:t>IV B.TECH RESEARCH PROJECT STAGE-1 </a:t>
            </a:r>
          </a:p>
          <a:p>
            <a:pPr algn="ctr">
              <a:defRPr/>
            </a:pPr>
            <a:r>
              <a:rPr lang="en-US" sz="1600" b="1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Times New Roman" panose="02020603050405020304" pitchFamily="18" charset="0"/>
              </a:rPr>
              <a:t>REVIEW-3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914400" y="1508760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and Performance Analysis of Multirate-NOMA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103120"/>
            <a:ext cx="103327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Implementation, Results and Analysis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08960" y="2788920"/>
          <a:ext cx="5943600" cy="16459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Student Roll No.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Student Name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23R21A0472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B. Sukrutha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23R21A0485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I. Alekhya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23R21A0492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K. Balaji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2286000" y="475488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G. Karthik Reddy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Associate Professor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Electronics and Communication Engineering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MLR Institute of Technology, Hyderabad-500043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3" hasCustomPrompt="1"/>
          </p:nvPr>
        </p:nvSpPr>
        <p:spPr>
          <a:xfrm>
            <a:off x="2560320" y="182880"/>
            <a:ext cx="6812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Overview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1371600"/>
            <a:ext cx="493776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Survey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Method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 and Need for Proposed Work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Model / Block Diagram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309360" y="1371600"/>
            <a:ext cx="530352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and Software Requirements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and Discussion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and Future Work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of Work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3" hasCustomPrompt="1"/>
          </p:nvPr>
        </p:nvSpPr>
        <p:spPr>
          <a:xfrm>
            <a:off x="2560320" y="182880"/>
            <a:ext cx="6812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594360" y="1188720"/>
            <a:ext cx="4572000" cy="4937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Wireless data demand grows rapidly, straining spectrum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evolved from FDMA and TDMA to CDMA, OFDMA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orthogonal schemes give users exclusive resources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users leave capacity unused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NOMA shares one resource by power-domain multiplexing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project: add symbol rate as a new degree of freedom</a:t>
            </a:r>
            <a:endParaRPr lang="en-US" sz="17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1325880"/>
          <a:ext cx="6446520" cy="3511296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access mechanism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FDMA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Frequency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Dedicated frequency per user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1G analog cellular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Simple, continuous transmission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TDMA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Dedicated time slot per user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GSM, T1/E1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Cyclical bursts, needs sync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Unique code per user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3G W-CDMA, GPS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Spread spectrum, high concurrency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OFDMA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Frequency / Time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Subcarrier blocks per user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LTE, WiMAX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Orthogonal subcarriers, high efficiency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Power / Code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Power-division (or code-based) multiplexing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Studied in 3GPP; 6G candidate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Non-orthogonal, requires SIC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349240" y="5440680"/>
            <a:ext cx="6446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1: Evolution of multiple-access schemes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3" hasCustomPrompt="1"/>
          </p:nvPr>
        </p:nvSpPr>
        <p:spPr>
          <a:xfrm>
            <a:off x="2560320" y="182880"/>
            <a:ext cx="6812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10927080" cy="411480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S.No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Author(s)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Journal / Conf., Year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Existing method used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Limitations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H. Yahya, E. Alsusa, A. Al-Dweik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IEEE OJ-COMS, 2024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MR-NOMA with JMLSD, low-complexity MR-SIC, closed-form BER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Two-user downlink only; fading, uplink, more users open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A. Al-Dweik, E. Alsusa, O. Dobre, R. Hamila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IEEE Commun. Mag., 2024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Multi-symbol-rate NOMA, numerical BER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closed-form BER or optimized power allocation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B. Clerckx et al.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Proc. IEEE, 2024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Survey of NOMA / RSMA access for 6G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 survey; no symbol-rate-level analysis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K. S. Ali, A. Al-Dweik, E. Hossain, M. Chafii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IEEE Trans. Wireless Commun., 2024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Physical-layer security of partial NOMA and NOMA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Targets secrecy, not error rate or rate flexibility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N. Shi et al.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IEEE Trans. Wireless Commun., 2024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PAPR reduction for mixed-numerology NOMA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Solves PAPR only; BER not analysed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five reference papers are from 2024 (batch requirement: 5 papers, 2024–2026).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3" hasCustomPrompt="1"/>
          </p:nvPr>
        </p:nvSpPr>
        <p:spPr>
          <a:xfrm>
            <a:off x="2560320" y="182880"/>
            <a:ext cx="6812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Method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Orthogonal access (FDMA, TDMA, OFDMA): one resource per user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SR-NOMA: power-domain superposition with successive interference cancellation (SIC)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user cancels far-user signal; far user decodes directly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 duration is the same for every user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566160"/>
          <a:ext cx="10927080" cy="27432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Existing method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Advantages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Limitations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OMA (FDMA / TDMA / OFDMA)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Simple; no multi-user interference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Poor spectral efficiency; idle resources wasted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SR-NOMA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Higher spectral efficiency; simple SIC receiver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power and modulation tunable; symbol rate rigid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Multinumerology / partial NOMA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Flexible time-frequency overlap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Inter-numerology interference; multicarrier only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3" hasCustomPrompt="1"/>
          </p:nvPr>
        </p:nvSpPr>
        <p:spPr>
          <a:xfrm>
            <a:off x="2560320" y="182880"/>
            <a:ext cx="6812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Motivation and Need for Proposed Work</a:t>
            </a:r>
            <a:endParaRPr lang="en-US" sz="2400" dirty="0"/>
          </a:p>
        </p:txBody>
      </p:sp>
      <p:sp>
        <p:nvSpPr>
          <p:cNvPr id="3" name="Motivation card"/>
          <p:cNvSpPr/>
          <p:nvPr/>
        </p:nvSpPr>
        <p:spPr>
          <a:xfrm>
            <a:off x="640080" y="118872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EAF1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280160"/>
            <a:ext cx="5029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Motivation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828800"/>
            <a:ext cx="502920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SR-NOMA gain is limited to two knobs: power and modulation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6G traffic is mixed: V2V needs low latency, sensors tolerate delay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common symbol rate wastes this diversity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 users suffer path loss and interference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 rate can be a third tunable parameter</a:t>
            </a:r>
            <a:endParaRPr lang="en-US" sz="1700" dirty="0"/>
          </a:p>
        </p:txBody>
      </p:sp>
      <p:sp>
        <p:nvSpPr>
          <p:cNvPr id="6" name="Need card 1"/>
          <p:cNvSpPr/>
          <p:nvPr/>
        </p:nvSpPr>
        <p:spPr>
          <a:xfrm>
            <a:off x="6400800" y="1188720"/>
            <a:ext cx="5166360" cy="2377440"/>
          </a:xfrm>
          <a:prstGeom prst="roundRect">
            <a:avLst>
              <a:gd name="adj" fmla="val 3077"/>
            </a:avLst>
          </a:prstGeom>
          <a:solidFill>
            <a:srgbClr val="EAF1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1325880"/>
            <a:ext cx="457200" cy="45720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178040" y="1325880"/>
            <a:ext cx="4206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gap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1920240"/>
            <a:ext cx="475488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multirate-NOMA studies give BER only by simulation: no closed-form analysis, optimal detector or power optimization.</a:t>
            </a:r>
            <a:endParaRPr lang="en-US" sz="1600" dirty="0"/>
          </a:p>
        </p:txBody>
      </p:sp>
      <p:sp>
        <p:nvSpPr>
          <p:cNvPr id="11" name="Need card 2"/>
          <p:cNvSpPr/>
          <p:nvPr/>
        </p:nvSpPr>
        <p:spPr>
          <a:xfrm>
            <a:off x="6400800" y="3657600"/>
            <a:ext cx="5166360" cy="2377440"/>
          </a:xfrm>
          <a:prstGeom prst="roundRect">
            <a:avLst>
              <a:gd name="adj" fmla="val 3077"/>
            </a:avLst>
          </a:prstGeom>
          <a:solidFill>
            <a:srgbClr val="EAF1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3794760"/>
            <a:ext cx="457200" cy="45720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3794760"/>
            <a:ext cx="4206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approach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4389120"/>
            <a:ext cx="475488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the optimal JMLSD and the low-complexity MR-SIC receiver, derive BER for both users, and optimize power under BER limits.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3" hasCustomPrompt="1"/>
          </p:nvPr>
        </p:nvSpPr>
        <p:spPr>
          <a:xfrm>
            <a:off x="2560320" y="182880"/>
            <a:ext cx="6812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4" name="Objective 1"/>
          <p:cNvSpPr/>
          <p:nvPr/>
        </p:nvSpPr>
        <p:spPr>
          <a:xfrm>
            <a:off x="685800" y="128016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EAF1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68680" y="1691640"/>
            <a:ext cx="548640" cy="54864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371600"/>
            <a:ext cx="42519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 downlink MR-NOMA system with arbitrary modulation orders and symbol rates</a:t>
            </a:r>
            <a:endParaRPr lang="en-US" sz="1600" dirty="0"/>
          </a:p>
        </p:txBody>
      </p:sp>
      <p:sp>
        <p:nvSpPr>
          <p:cNvPr id="8" name="Objective 2"/>
          <p:cNvSpPr/>
          <p:nvPr/>
        </p:nvSpPr>
        <p:spPr>
          <a:xfrm>
            <a:off x="6217920" y="128016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EAF1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0" y="1691640"/>
            <a:ext cx="548640" cy="54864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7132320" y="1371600"/>
            <a:ext cx="42519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the optimal JMLSD detector and derive its BER upper bound</a:t>
            </a:r>
            <a:endParaRPr lang="en-US" sz="1600" dirty="0"/>
          </a:p>
        </p:txBody>
      </p:sp>
      <p:sp>
        <p:nvSpPr>
          <p:cNvPr id="12" name="Objective 3"/>
          <p:cNvSpPr/>
          <p:nvPr/>
        </p:nvSpPr>
        <p:spPr>
          <a:xfrm>
            <a:off x="685800" y="288036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EAF1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68680" y="3291840"/>
            <a:ext cx="548640" cy="54864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868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2971800"/>
            <a:ext cx="42519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a low-complexity MR-SIC receiver suited for practical hardware</a:t>
            </a:r>
            <a:endParaRPr lang="en-US" sz="1600" dirty="0"/>
          </a:p>
        </p:txBody>
      </p:sp>
      <p:sp>
        <p:nvSpPr>
          <p:cNvPr id="16" name="Objective 4"/>
          <p:cNvSpPr/>
          <p:nvPr/>
        </p:nvSpPr>
        <p:spPr>
          <a:xfrm>
            <a:off x="6217920" y="288036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EAF1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0" y="3291840"/>
            <a:ext cx="548640" cy="54864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7132320" y="2971800"/>
            <a:ext cx="42519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power allocation to minimize BER under per-user BER limits</a:t>
            </a:r>
            <a:endParaRPr lang="en-US" sz="1600" dirty="0"/>
          </a:p>
        </p:txBody>
      </p:sp>
      <p:sp>
        <p:nvSpPr>
          <p:cNvPr id="20" name="Objective 5"/>
          <p:cNvSpPr/>
          <p:nvPr/>
        </p:nvSpPr>
        <p:spPr>
          <a:xfrm>
            <a:off x="685800" y="448056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EAF1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68680" y="4892040"/>
            <a:ext cx="548640" cy="54864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68680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1600200" y="4572000"/>
            <a:ext cx="42519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Quantify the BER gain of MR-NOMA over conventional SR-NOMA</a:t>
            </a:r>
            <a:endParaRPr lang="en-US" sz="1600" dirty="0"/>
          </a:p>
        </p:txBody>
      </p:sp>
      <p:sp>
        <p:nvSpPr>
          <p:cNvPr id="24" name="Objective 6"/>
          <p:cNvSpPr/>
          <p:nvPr/>
        </p:nvSpPr>
        <p:spPr>
          <a:xfrm>
            <a:off x="6217920" y="448056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EAF1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400800" y="4892040"/>
            <a:ext cx="548640" cy="54864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00800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7132320" y="4572000"/>
            <a:ext cx="42519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the analytical BER by Monte Carlo simulation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3" hasCustomPrompt="1"/>
          </p:nvPr>
        </p:nvSpPr>
        <p:spPr>
          <a:xfrm>
            <a:off x="2560320" y="182880"/>
            <a:ext cx="6812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Model / Block Diagram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5669280" cy="4846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Two-user downlink: near user U₁, far user U₂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user is M-QAM modulated at its own symbol duration Tₙ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Superposition: x = √α₁x₁ + √α₂x₂, α₁ + α₂ = 1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 user holds each symbol for T₂ samples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U₁ applies MR-SIC; U₂ detects directly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AWGN channel, rₙ = hₙx + wₙ, hₙ = 1</a:t>
            </a:r>
            <a:endParaRPr lang="en-US" sz="1700" dirty="0"/>
          </a:p>
        </p:txBody>
      </p:sp>
      <p:pic>
        <p:nvPicPr>
          <p:cNvPr id="4" name="System model diagram" descr="MR-NOMA two-user downlink block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371600"/>
            <a:ext cx="4838007" cy="3657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583680" y="5120640"/>
            <a:ext cx="4937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1: Two-user MR-NOMA downlink (U₂ symbol held for T₂ samples)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3" hasCustomPrompt="1"/>
          </p:nvPr>
        </p:nvSpPr>
        <p:spPr>
          <a:xfrm>
            <a:off x="2560320" y="182880"/>
            <a:ext cx="6812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Methodology: Detection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5394960" cy="3017520"/>
          </a:xfrm>
          <a:prstGeom prst="roundRect">
            <a:avLst>
              <a:gd name="adj" fmla="val 2424"/>
            </a:avLst>
          </a:prstGeom>
          <a:solidFill>
            <a:srgbClr val="EAF1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261872"/>
            <a:ext cx="5029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JMLSD: optimal detector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502920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every joint transmitted vector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for symbol durations through τₙ = T_N / Tₙ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distance to the received vector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minimum-distance candidate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grows with the joint search space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188720"/>
            <a:ext cx="5394960" cy="3017520"/>
          </a:xfrm>
          <a:prstGeom prst="roundRect">
            <a:avLst>
              <a:gd name="adj" fmla="val 2424"/>
            </a:avLst>
          </a:prstGeom>
          <a:solidFill>
            <a:srgbClr val="EAF1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261872"/>
            <a:ext cx="5029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MR-SIC: low-complexity detector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737360"/>
            <a:ext cx="502920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the T₂ samples; decide far-user symbol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far-user signal and subtract it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each near-user symbol from the residual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single-user decisions are needed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≈7×10⁴ times cheaper than JMLSD at T₂ = 8</a:t>
            </a:r>
            <a:endParaRPr lang="en-US" sz="1500" dirty="0"/>
          </a:p>
        </p:txBody>
      </p:sp>
      <p:pic>
        <p:nvPicPr>
          <p:cNvPr id="9" name="MR-SIC block diagram" descr="MR-SIC detector for the near us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4343400"/>
            <a:ext cx="3373916" cy="19202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3749040" y="6309360"/>
            <a:ext cx="45720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3: MR-SIC detection for the near user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3" hasCustomPrompt="1"/>
          </p:nvPr>
        </p:nvSpPr>
        <p:spPr>
          <a:xfrm>
            <a:off x="2560320" y="182880"/>
            <a:ext cx="6812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Hardware and Software Requirements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3474720" cy="4480560"/>
          </a:xfrm>
          <a:prstGeom prst="roundRect">
            <a:avLst>
              <a:gd name="adj" fmla="val 2105"/>
            </a:avLst>
          </a:prstGeom>
          <a:solidFill>
            <a:srgbClr val="EAF1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508760"/>
            <a:ext cx="3017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Software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148840"/>
            <a:ext cx="301752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MATLAB: analytical BER, power allocation, plots (routine.m, equal_distance.m, rectGrayQAM_mod.m, JMLSD_th.m, SIC_nearUser_th.m, SIC_farUser_th.m, singleUser_th.m). Python (NumPy): Monte Carlo cross-check.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89120" y="1371600"/>
            <a:ext cx="3474720" cy="4480560"/>
          </a:xfrm>
          <a:prstGeom prst="roundRect">
            <a:avLst>
              <a:gd name="adj" fmla="val 2105"/>
            </a:avLst>
          </a:prstGeom>
          <a:solidFill>
            <a:srgbClr val="EAF1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17720" y="1508760"/>
            <a:ext cx="3017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Hardware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148840"/>
            <a:ext cx="301752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computer or laptop running MATLAB. The project is simulation-based, so no external hardware is required.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92440" y="1371600"/>
            <a:ext cx="3474720" cy="4480560"/>
          </a:xfrm>
          <a:prstGeom prst="roundRect">
            <a:avLst>
              <a:gd name="adj" fmla="val 2105"/>
            </a:avLst>
          </a:prstGeom>
          <a:solidFill>
            <a:srgbClr val="EAF1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508760"/>
            <a:ext cx="3017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Simulation setup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148840"/>
            <a:ext cx="301752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Two-user downlink, AWGN, hₙ = 1. Modulation BPSK to 64-QAM, T = [1, T₂], T₂ ∈ {1, 2, 4, 8}. SNR 0–15 dB (BPSK study), −5 to 35 dB (far-user sweeps).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3" hasCustomPrompt="1"/>
          </p:nvPr>
        </p:nvSpPr>
        <p:spPr>
          <a:xfrm>
            <a:off x="2560320" y="182880"/>
            <a:ext cx="6812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2194560" cy="822960"/>
          </a:xfrm>
          <a:prstGeom prst="roundRect">
            <a:avLst>
              <a:gd name="adj" fmla="val 6667"/>
            </a:avLst>
          </a:prstGeom>
          <a:solidFill>
            <a:srgbClr val="EAF1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19456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routine.m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Parameters: M, T, α, SNR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1280160"/>
            <a:ext cx="2377440" cy="822960"/>
          </a:xfrm>
          <a:prstGeom prst="roundRect">
            <a:avLst>
              <a:gd name="adj" fmla="val 6667"/>
            </a:avLst>
          </a:prstGeom>
          <a:solidFill>
            <a:srgbClr val="EAF1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00400" y="1280160"/>
            <a:ext cx="23774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equal_distance.m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allocation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0" y="1280160"/>
            <a:ext cx="2651760" cy="822960"/>
          </a:xfrm>
          <a:prstGeom prst="roundRect">
            <a:avLst>
              <a:gd name="adj" fmla="val 6667"/>
            </a:avLst>
          </a:prstGeom>
          <a:solidFill>
            <a:srgbClr val="EAF1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0" y="1280160"/>
            <a:ext cx="265176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rectGrayQAM_mod.m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QAM constellation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34640" y="1691640"/>
            <a:ext cx="36576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577840" y="1691640"/>
            <a:ext cx="36576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0080" y="2651760"/>
            <a:ext cx="3291840" cy="822960"/>
          </a:xfrm>
          <a:prstGeom prst="roundRect">
            <a:avLst>
              <a:gd name="adj" fmla="val 6667"/>
            </a:avLst>
          </a:prstGeom>
          <a:solidFill>
            <a:srgbClr val="EAF1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651760"/>
            <a:ext cx="32918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JMLSD_th.m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BER (union bound)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97680" y="2651760"/>
            <a:ext cx="3291840" cy="822960"/>
          </a:xfrm>
          <a:prstGeom prst="roundRect">
            <a:avLst>
              <a:gd name="adj" fmla="val 6667"/>
            </a:avLst>
          </a:prstGeom>
          <a:solidFill>
            <a:srgbClr val="EAF1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97680" y="2651760"/>
            <a:ext cx="32918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SIC_nearUser_th.m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Near-user BER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55280" y="2651760"/>
            <a:ext cx="3566160" cy="822960"/>
          </a:xfrm>
          <a:prstGeom prst="roundRect">
            <a:avLst>
              <a:gd name="adj" fmla="val 6667"/>
            </a:avLst>
          </a:prstGeom>
          <a:solidFill>
            <a:srgbClr val="EAF1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55280" y="2651760"/>
            <a:ext cx="356616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SIC_farUser_th.m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Far-user BER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286000" y="2103120"/>
            <a:ext cx="0" cy="54864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943600" y="2103120"/>
            <a:ext cx="0" cy="54864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326880" y="2103120"/>
            <a:ext cx="0" cy="54864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645920" y="3977640"/>
            <a:ext cx="3840480" cy="822960"/>
          </a:xfrm>
          <a:prstGeom prst="roundRect">
            <a:avLst>
              <a:gd name="adj" fmla="val 6667"/>
            </a:avLst>
          </a:prstGeom>
          <a:solidFill>
            <a:srgbClr val="CFD5EA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645920" y="3977640"/>
            <a:ext cx="384048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BER(U₁), BER(U₂)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as vectors vs SNR / α₁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035040" y="3977640"/>
            <a:ext cx="4389120" cy="822960"/>
          </a:xfrm>
          <a:prstGeom prst="roundRect">
            <a:avLst>
              <a:gd name="adj" fmla="val 6667"/>
            </a:avLst>
          </a:prstGeom>
          <a:solidFill>
            <a:srgbClr val="CFD5EA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35040" y="3977640"/>
            <a:ext cx="438912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singleUser_th.m + optimal_power_final.m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allocation (Problems 1 and 2)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286000" y="3474720"/>
            <a:ext cx="365760" cy="50292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943600" y="3474720"/>
            <a:ext cx="0" cy="50292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326880" y="3474720"/>
            <a:ext cx="0" cy="50292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tailEnd type="triangle"/>
          </a:ln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0" y="4983480"/>
          <a:ext cx="8778240" cy="1371600"/>
        </p:xfrm>
        <a:graphic>
          <a:graphicData uri="http://schemas.openxmlformats.org/drawingml/2006/table">
            <a:tbl>
              <a:tblPr/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Paper 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MATLAB quantity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Symbol-rate ratio τₙ = T_N / Tₙ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tau = maxT ./ 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Power-weighted joint signal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LUT_C construction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Pairwise Euclidean distance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norm(·, 2)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PEP / Q-function / BER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qfunc / erfc sums → BER arrays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3" hasCustomPrompt="1"/>
          </p:nvPr>
        </p:nvSpPr>
        <p:spPr>
          <a:xfrm>
            <a:off x="2560320" y="182880"/>
            <a:ext cx="6812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Results: BER of the Two Users</a:t>
            </a:r>
            <a:endParaRPr lang="en-US" sz="2400" dirty="0"/>
          </a:p>
        </p:txBody>
      </p:sp>
      <p:pic>
        <p:nvPicPr>
          <p:cNvPr id="4" name="BER vs SNR plot" descr="BER versus SNR for JMLSD and MR-S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51560"/>
            <a:ext cx="5029200" cy="4023360"/>
          </a:xfrm>
          <a:prstGeom prst="rect">
            <a:avLst/>
          </a:prstGeom>
        </p:spPr>
      </p:pic>
      <p:pic>
        <p:nvPicPr>
          <p:cNvPr id="5" name="BER vs alpha plot" descr="BER versus alpha 1 at 15 d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051560"/>
            <a:ext cx="5029200" cy="402336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40080" y="5102352"/>
            <a:ext cx="5029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1: BER vs SNR (BPSK, T = [1, 2], α = [0.2, 0.8])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6309360" y="5102352"/>
            <a:ext cx="5029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2: BER vs α₁ at SNR = 15 dB. Lines: analytical; markers: Monte Carlo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731520" y="5440680"/>
            <a:ext cx="107899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MR-SIC and JMLSD coincide above ≈10 dB; the JMLSD union bound is loose only at low SNR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Near-user BER is minimum (3.5×10⁻⁵) near α₁ ≈ 0.26; beyond α₁ ≈ 0.3, SIC errors dominate both users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 Carlo simulation matches the analytical curves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3" hasCustomPrompt="1"/>
          </p:nvPr>
        </p:nvSpPr>
        <p:spPr>
          <a:xfrm>
            <a:off x="2560320" y="182880"/>
            <a:ext cx="6812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Results: Far-User BER with Longer Symbols</a:t>
            </a:r>
            <a:endParaRPr lang="en-US" sz="2400" dirty="0"/>
          </a:p>
        </p:txBody>
      </p:sp>
      <p:pic>
        <p:nvPicPr>
          <p:cNvPr id="4" name="Far-user BER plot" descr="Far-user MR-SIC BER versus SNR for [2,2] and [4,4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5394960" cy="4154119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297119"/>
            <a:ext cx="53949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3: Far-user BER vs SNR, [2,2] solid, [4,4] dashed. Colours/markers: T₂ = 1, 2, 4, 8 (T₂ = 1 is SR-NOMA)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143000"/>
          <a:ext cx="5303520" cy="331927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[M₁,M₂]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T₂ = 1 (SR-NOMA)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T₂ = 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SNR saved (dB)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[2,2]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[4,4]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[4,16]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[4,64]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[16,4]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[16,16]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[16,64]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[64,4]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[64,16]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[64,64]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6309360" y="4572000"/>
            <a:ext cx="5303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SNR (dB) for far-user BER = 10⁻³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6309360" y="4937760"/>
            <a:ext cx="530352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doubling of T₂ gives a 3 dB gain plus extra interference cancellation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saving: ≈13 dB (M₁ ≤ 4), ≈18 dB (16), ≈23 dB (64)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Price: a far-user symbol 8× longer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3" hasCustomPrompt="1"/>
          </p:nvPr>
        </p:nvSpPr>
        <p:spPr>
          <a:xfrm>
            <a:off x="2560320" y="182880"/>
            <a:ext cx="6812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Results: Optimal Power Allocation</a:t>
            </a:r>
            <a:endParaRPr lang="en-US" sz="2400" dirty="0"/>
          </a:p>
        </p:txBody>
      </p:sp>
      <p:pic>
        <p:nvPicPr>
          <p:cNvPr id="4" name="Optimal alpha plot" descr="Optimal alpha 1 star versus T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51560"/>
            <a:ext cx="4572000" cy="3725333"/>
          </a:xfrm>
          <a:prstGeom prst="rect">
            <a:avLst/>
          </a:prstGeom>
        </p:spPr>
      </p:pic>
      <p:pic>
        <p:nvPicPr>
          <p:cNvPr id="5" name="BER at optimum plot" descr="BER at the optimal allocation versus T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051560"/>
            <a:ext cx="4572000" cy="3894667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40080" y="4804325"/>
            <a:ext cx="45720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4: α₁* vs T₂. Solid: Problem 1; dashed: Problem 2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6309360" y="4973659"/>
            <a:ext cx="45720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5: BER at α₁* vs T₂ (ζ = 10⁻²)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731520" y="5440680"/>
            <a:ext cx="107899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1: α₁* rises with T₂ up to α₁,max (0.5, 0.357, 0.3); SR-NOMA allows only 0.023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2: α₁* = 0.136, 0.309, 0.149, independent of T₂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Simulation: near-user bound is accurate except [4,4] at T₂ ≥ 4 (true BER 2×10⁻³ at T₂ = 8)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3" hasCustomPrompt="1"/>
          </p:nvPr>
        </p:nvSpPr>
        <p:spPr>
          <a:xfrm>
            <a:off x="2560320" y="182880"/>
            <a:ext cx="6812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and Future Work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280160"/>
            <a:ext cx="640080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two-user downlink MR-NOMA with JMLSD and MR-SIC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BER validated by Monte Carlo simulation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far-user symbols save 13–23 dB SNR at BER 10⁻³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BER-constrained power allocation solved for three modulation pairs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objectives achieved</a:t>
            </a:r>
            <a:endParaRPr lang="en-US" sz="1900" dirty="0"/>
          </a:p>
        </p:txBody>
      </p:sp>
      <p:sp>
        <p:nvSpPr>
          <p:cNvPr id="5" name="Future work card"/>
          <p:cNvSpPr/>
          <p:nvPr/>
        </p:nvSpPr>
        <p:spPr>
          <a:xfrm>
            <a:off x="7498080" y="1280160"/>
            <a:ext cx="4114800" cy="4663440"/>
          </a:xfrm>
          <a:prstGeom prst="roundRect">
            <a:avLst>
              <a:gd name="adj" fmla="val 1778"/>
            </a:avLst>
          </a:prstGeom>
          <a:solidFill>
            <a:srgbClr val="EAF1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2668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1920240"/>
            <a:ext cx="370332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Closed-form near-user BER for higher-order QAM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Fading channels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Uplink MR-NOMA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than two users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Multi-antenna (MIMO) MR-NOMA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3" hasCustomPrompt="1"/>
          </p:nvPr>
        </p:nvSpPr>
        <p:spPr>
          <a:xfrm>
            <a:off x="2560320" y="182880"/>
            <a:ext cx="6812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Status of Work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927080" cy="36576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S.No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item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title finalized; abstract approved; problem statement finalized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Completed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Literature survey (5 papers, 2024)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Completed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MATLAB set-up; system model and block diagram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Completed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JMLSD and MR-SIC detectors implemented (analytical BER)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Completed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 vs SNR and vs α₁ results (BPSK, T = [1, 2])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Completed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Far-user BER sweeps: 10 modulation pairs, T₂ = 1 to 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Completed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Monte Carlo validation of the analytical BER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Completed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BER-constrained power allocation ([4,4], [16,4], [64,4])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Completed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IEEE-format paper drafted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Completed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640080" y="5257800"/>
            <a:ext cx="10927080" cy="777240"/>
          </a:xfrm>
          <a:prstGeom prst="roundRect">
            <a:avLst>
              <a:gd name="adj" fmla="val 9412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22960" y="5257800"/>
            <a:ext cx="106070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 status: 100% 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planned Stage-1 scope (MIMO extension: future work)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3" hasCustomPrompt="1"/>
          </p:nvPr>
        </p:nvSpPr>
        <p:spPr>
          <a:xfrm>
            <a:off x="2560320" y="182880"/>
            <a:ext cx="6812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Timeline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2: 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timeline (Gantt chart), Aug – Nov 2026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927080" cy="3520440"/>
        </p:xfrm>
        <a:graphic>
          <a:graphicData uri="http://schemas.openxmlformats.org/drawingml/2006/table">
            <a:tbl>
              <a:tblPr/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Activity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Nov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Literature survey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 model and detector study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MATLAB simulation and BER validation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Power-allocation optimization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Results vs SR-NOMA and documentation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 report and paper submission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3" hasCustomPrompt="1"/>
          </p:nvPr>
        </p:nvSpPr>
        <p:spPr>
          <a:xfrm>
            <a:off x="2560320" y="182880"/>
            <a:ext cx="6812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43000"/>
            <a:ext cx="10789920" cy="5120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H. Yahya, E. Alsusa, and A. Al-Dweik, “Design and performance analysis of multirate-NOMA,” IEEE Open J. Commun. Soc., vol. 5, pp. 4354–4370, 2024.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Al-Dweik, E. Alsusa, O. A. Dobre, and R. Hamila, “Multi-symbol rate NOMA for improving connectivity in 6G communications networks,” IEEE Commun. Mag., vol. 62, no. 7, pp. 118–123, Jul. 2024.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Clerckx et al., “Multiple access techniques for intelligent and multifunctional 6G: Tutorial, survey, and outlook,” Proc. IEEE, 2024.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K. S. Ali, A. Al-Dweik, E. Hossain, and M. Chafii, “Physical layer security of partial-NOMA and NOMA in Poisson networks,” IEEE Trans. Wireless Commun., vol. 23, no. 6, pp. 6562–6579, Jun. 2024.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N. Shi et al., “Peak-to-average power ratio reduction using selected mapping for mixed numerology NOMA,” IEEE Trans. Wireless Commun., 2024.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H. Yahya, E. Alsusa, and A. Al-Dweik, “Exact BER analysis of NOMA with arbitrary number of users and modulation orders,” IEEE Trans. Commun., vol. 69, no. 9, pp. 6330–6344, Sep. 2021.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Y. Iraqi and A. Al-Dweik, “Power allocation for reliable SIC detection of rectangular QAM-based NOMA systems,” IEEE Trans. Veh. Technol., vol. 70, no. 8, pp. 8355–8360, Aug. 2021.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Y. Saito et al., “Non-orthogonal multiple access (NOMA) for cellular future radio access,” in Proc. IEEE VTC Spring, Dresden, Germany, Jun. 2013.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K. Cho and D. Yoon, “On the general BER expression of one- and two-dimensional amplitude modulations,” IEEE Trans. Commun., vol. 50, no. 7, pp. 1074–1080, Jul. 2002.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G. Proakis and M. Salehi, Digital Communications, 5th ed. New York, NY, USA: McGraw-Hill, 2008.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828800" y="2651760"/>
            <a:ext cx="8503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ln w="31750">
                  <a:solidFill>
                    <a:srgbClr val="548235"/>
                  </a:solidFill>
                </a:ln>
                <a:solidFill>
                  <a:srgbClr val="C5E0B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LRIT Review">
  <a:themeElements>
    <a:clrScheme name="MLRIT Review">
      <a:dk1>
        <a:srgbClr val="000000"/>
      </a:dk1>
      <a:lt1>
        <a:srgbClr val="FFFFFF"/>
      </a:lt1>
      <a:dk2>
        <a:srgbClr val="1F3864"/>
      </a:dk2>
      <a:lt2>
        <a:srgbClr val="EAF1FB"/>
      </a:lt2>
      <a:accent1>
        <a:srgbClr val="4472C4"/>
      </a:accent1>
      <a:accent2>
        <a:srgbClr val="C00000"/>
      </a:accent2>
      <a:accent3>
        <a:srgbClr val="00B0F0"/>
      </a:accent3>
      <a:accent4>
        <a:srgbClr val="2E8B57"/>
      </a:accent4>
      <a:accent5>
        <a:srgbClr val="ED7D31"/>
      </a:accent5>
      <a:accent6>
        <a:srgbClr val="7F7F7F"/>
      </a:accent6>
      <a:hlink>
        <a:srgbClr val="0563C1"/>
      </a:hlink>
      <a:folHlink>
        <a:srgbClr val="954F72"/>
      </a:folHlink>
    </a:clrScheme>
    <a:fontScheme name="MLRIT Review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2511</Words>
  <Application>Microsoft Office PowerPoint</Application>
  <PresentationFormat>Custom</PresentationFormat>
  <Paragraphs>367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Times New Roman</vt:lpstr>
      <vt:lpstr>MLRIT Review</vt:lpstr>
      <vt:lpstr>PowerPoint Presentation</vt:lpstr>
      <vt:lpstr>Overview</vt:lpstr>
      <vt:lpstr>Introduction</vt:lpstr>
      <vt:lpstr>Literature Survey</vt:lpstr>
      <vt:lpstr>Existing Method</vt:lpstr>
      <vt:lpstr>Motivation and Need for Proposed Work</vt:lpstr>
      <vt:lpstr>Objectives</vt:lpstr>
      <vt:lpstr>System Model / Block Diagram</vt:lpstr>
      <vt:lpstr>Methodology: Detection</vt:lpstr>
      <vt:lpstr>Hardware and Software Requirements</vt:lpstr>
      <vt:lpstr>Implementation</vt:lpstr>
      <vt:lpstr>Results: BER of the Two Users</vt:lpstr>
      <vt:lpstr>Results: Far-User BER with Longer Symbols</vt:lpstr>
      <vt:lpstr>Results: Optimal Power Allocation</vt:lpstr>
      <vt:lpstr>Conclusion and Future Work</vt:lpstr>
      <vt:lpstr>Status of Work</vt:lpstr>
      <vt:lpstr>Timeline</vt:lpstr>
      <vt:lpstr>References</vt:lpstr>
      <vt:lpstr>PowerPoint Presentation</vt:lpstr>
    </vt:vector>
  </TitlesOfParts>
  <Company>MLR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Performance Analysis of Multirate-NOMA – Final Review</dc:title>
  <dc:subject>PptxGenJS Presentation</dc:subject>
  <dc:creator>B. Sukrutha, I. Alekhya, K. Balaji</dc:creator>
  <cp:lastModifiedBy>Sukrutha Bodapally</cp:lastModifiedBy>
  <cp:revision>3</cp:revision>
  <dcterms:created xsi:type="dcterms:W3CDTF">2026-10-25T12:28:05Z</dcterms:created>
  <dcterms:modified xsi:type="dcterms:W3CDTF">2026-10-28T10:01:12Z</dcterms:modified>
</cp:coreProperties>
</file>